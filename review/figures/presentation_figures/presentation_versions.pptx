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12192000" cy="6858000" type="screen16x9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notesMaster" Target="notesMasters/notesMaster1.xml"/>
<Relationship Id="rId10" Type="http://schemas.openxmlformats.org/officeDocument/2006/relationships/slide" Target="slides/slide2.xml"/>
<Relationship Id="rId11" Type="http://schemas.openxmlformats.org/officeDocument/2006/relationships/slide" Target="slides/slide3.xml"/>
<Relationship Id="rId12" Type="http://schemas.openxmlformats.org/officeDocument/2006/relationships/slide" Target="slides/slide4.xml"/>
<Relationship Id="rId13" Type="http://schemas.openxmlformats.org/officeDocument/2006/relationships/slide" Target="slides/slide5.xml"/>
<Relationship Id="rId14" Type="http://schemas.openxmlformats.org/officeDocument/2006/relationships/slide" Target="slides/slide6.xml"/>
<Relationship Id="rId15" Type="http://schemas.openxmlformats.org/officeDocument/2006/relationships/slide" Target="slides/slide7.xml"/>
<Relationship Id="rId16" Type="http://schemas.openxmlformats.org/officeDocument/2006/relationships/slide" Target="slides/slide8.xml"/>
<Relationship Id="rId17" Type="http://schemas.openxmlformats.org/officeDocument/2006/relationships/slide" Target="slides/slide9.xml"/>
<Relationship Id="rId18" Type="http://schemas.openxmlformats.org/officeDocument/2006/relationships/slide" Target="slides/slide10.xml"/>
<Relationship Id="rId19" Type="http://schemas.openxmlformats.org/officeDocument/2006/relationships/slide" Target="slides/slide11.xml"/>
<Relationship Id="rId20" Type="http://schemas.openxmlformats.org/officeDocument/2006/relationships/slide" Target="slides/slide12.xml"/>
<Relationship Id="rId21" Type="http://schemas.openxmlformats.org/officeDocument/2006/relationships/slide" Target="slides/slide13.xml"/>
<Relationship Id="rId22" Type="http://schemas.openxmlformats.org/officeDocument/2006/relationships/slide" Target="slides/slide14.xml"/>
<Relationship Id="rId23" Type="http://schemas.openxmlformats.org/officeDocument/2006/relationships/slide" Target="slides/slide15.xml"/>
<Relationship Id="rId24" Type="http://schemas.openxmlformats.org/officeDocument/2006/relationships/slide" Target="slides/slide16.xml"/>
<Relationship Id="rId25" Type="http://schemas.openxmlformats.org/officeDocument/2006/relationships/slide" Target="slides/slide17.xml"/>
<Relationship Id="rId26" Type="http://schemas.openxmlformats.org/officeDocument/2006/relationships/slide" Target="slides/slide18.xml"/>
<Relationship Id="rId27" Type="http://schemas.openxmlformats.org/officeDocument/2006/relationships/slide" Target="slides/slide19.xml"/>
<Relationship Id="rId28" Type="http://schemas.openxmlformats.org/officeDocument/2006/relationships/slide" Target="slides/slide20.xml"/>
<Relationship Id="rId29" Type="http://schemas.openxmlformats.org/officeDocument/2006/relationships/slide" Target="slides/slide21.xml"/>
<Relationship Id="rId30" Type="http://schemas.openxmlformats.org/officeDocument/2006/relationships/slide" Target="slides/slide22.xml"/>
<Relationship Id="rId31" Type="http://schemas.openxmlformats.org/officeDocument/2006/relationships/slide" Target="slides/slide23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_rels/notesSlide2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_rels/notesSlide3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3.xml"/>
</Relationships>

</file>

<file path=ppt/notesSlides/_rels/notesSlide4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4.xml"/>
</Relationships>

</file>

<file path=ppt/notesSlides/_rels/notesSlide5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5.xml"/>
</Relationships>

</file>

<file path=ppt/notesSlides/_rels/notesSlide6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6.xml"/>
</Relationships>

</file>

<file path=ppt/notesSlides/_rels/notesSlide7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7.xml"/>
</Relationships>

</file>

<file path=ppt/notesSlides/_rels/notesSlide8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8.xml"/>
</Relationships>

</file>

<file path=ppt/notesSlides/_rels/notesSlide9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9.xml"/>
</Relationships>

</file>

<file path=ppt/notesSlides/_rels/notesSlide10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0.xml"/>
</Relationships>

</file>

<file path=ppt/notesSlides/_rels/notesSlide1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1.xml"/>
</Relationships>

</file>

<file path=ppt/notesSlides/_rels/notesSlide12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2.xml"/>
</Relationships>

</file>

<file path=ppt/notesSlides/_rels/notesSlide13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3.xml"/>
</Relationships>

</file>

<file path=ppt/notesSlides/_rels/notesSlide14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4.xml"/>
</Relationships>

</file>

<file path=ppt/notesSlides/_rels/notesSlide15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5.xml"/>
</Relationships>

</file>

<file path=ppt/notesSlides/_rels/notesSlide16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6.xml"/>
</Relationships>

</file>

<file path=ppt/notesSlides/_rels/notesSlide17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7.xml"/>
</Relationships>

</file>

<file path=ppt/notesSlides/_rels/notesSlide18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8.xml"/>
</Relationships>

</file>

<file path=ppt/notesSlides/_rels/notesSlide19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9.xml"/>
</Relationships>

</file>

<file path=ppt/notesSlides/_rels/notesSlide20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0.xml"/>
</Relationships>

</file>

<file path=ppt/notesSlides/_rels/notesSlide2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1.xml"/>
</Relationships>

</file>

<file path=ppt/notesSlides/_rels/notesSlide22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2.xml"/>
</Relationships>

</file>

<file path=ppt/notesSlides/_rels/notesSlide23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3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Sites belonging to the three historical collections (Marconi 2000, La Thuile 2007, FLUXNET2015), matched to current FLUXNET Shuttle site IDs as for Table 1. n = 499 matched sites (35 Marconi, 252 La Thuile, 212 FLUXNET2015). Coloured as in Figure 2 (Marconi #404040, La Thuile #E74C3C, FLUXNET2015 #3498DB). Snapshot: fluxnet_shuttle_snapshot_20260901T094522.csv.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All 781 towers in the current FLUXNET Shuttle snapshot, Equal Earth (EPSG:8857) projection. Snapshot: fluxnet_shuttle_snapshot_20260901T094522.csv.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North America regional panel: lat [15, 72], lon [-170, -50]; n = 362 towers; scale bar 3000 km; Lambert Azimuthal Equal-Area projection. Snapshot: fluxnet_shuttle_snapshot_20260901T094522.csv.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Europe regional panel: lat [34, 72], lon [-12, 42]; n = 198 towers; scale bar 1000 km. Snapshot: fluxnet_shuttle_snapshot_20260901T094522.csv.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East and Southeast Asia regional panel: lat [-10, 51.5], lon [95, 146]; n = 103 towers; scale bar 1500 km. Snapshot: fluxnet_shuttle_snapshot_20260901T094522.csv.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Australia and New Zealand regional panel: lat [-48, -10], lon [110, 180]; n = 53 towers; scale bar 2000 km. Snapshot: fluxnet_shuttle_snapshot_20260901T094522.csv.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Cumulative site-years for the three historical collections (Marconi 2000, La Thuile 2007, FLUXNET2015) only, drawn on the same final axes used by steps 2-3 that follow. Snapshot: fluxnet_shuttle_snapshot_20260920T102211.csv.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Same axes as step 1, with the current FLUXNET Shuttle snapshot's cumulative site-years added as an IGBP-class stacked area (no inset -- the manuscript figure's record-length inset is its own slide, step 3). 781 sites, 6,200 site-years total. Snapshot: fluxnet_shuttle_snapshot_20260920T102211.csv.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Record-length histogram (years of data per site), coloured by IGBP class, with reference lines at 5, 10 and 20 years: n = 483 sites with &gt;=5 years, 225 with &gt;=10 years, 63 with &gt;=20 years (of 781 total). Snapshot: fluxnet_shuttle_snapshot_20260920T102211.csv.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Global land climate envelope: 95% and 99% highest-density contours of mean annual temperature vs mean annual precipitation across the land surface (WorldClim v2.1), no FLUXNET sites shown yet. Snapshot: fluxnet_shuttle_snapshot_20260901T094522.csv.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Same climate envelope, with the FLUXNET Shuttle network's 781 sites added as a stepped-colour annual-NEE hexbin density layer (656 sites with qualifying annual NEE, 4,375 site-years) plus individual site points. Snapshot: fluxnet_shuttle_snapshot_20260901T094522.csv.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FLUXNET2015 vs current FLUXNET Shuttle median NEP +/- SD per IGBP class (n=10 classes; CVM and CSH excluded per the manuscript's classification-exclusion rule). Dashed line = 1:1. Snapshot: fluxnet_shuttle_snapshot_20260901T094522.csv (via data/snapshots/flux_comparison_fluxnet2015_vs_shuttle.csv).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FLUXNET2015 vs current FLUXNET Shuttle median ET +/- SD per IGBP class. Dashed line = 1:1. Snapshot: fluxnet_shuttle_snapshot_20260901T094522.csv.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FLUXNET2015 vs current FLUXNET Shuttle median H +/- SD per IGBP class. Dashed line = 1:1. Snapshot: fluxnet_shuttle_snapshot_20260901T094522.csv.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Empirical cumulative distribution of the annual QC flag fraction for NEE (VUT), NEE (CUT), LE and H, x-axis 0.5-1.0 (QC_THRESHOLD_YY = 0.50). Values below 0.5 (off the plotted range): NEE_VUT 16/4,033, NEE_CUT 32/4,352, LE 8/4,509, H 7/4,638. Snapshot: fluxnet_shuttle_snapshot_20260920T102211.csv.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Magnitude of each uncertainty term (random, u*-threshold, joint) contributing to usable annual NEE, VUT (n=4,017) vs CUT (n=4,320) compared. Snapshot: fluxnet_shuttle_snapshot_20260920T102211.csv.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Effect of the VUT/CUT processing choice on annual NEE sums, 3,960 site-years with both usable. 152 of 3,960 exceed the combined uncertainty; 20 lack the joint uncertainty term; 86 fall beyond +/-100 g C m-2 yr-1 and 34 beyond +/-150 (the plotted range -- y-axis fixed at 1,490 site-years). Snapshot: fluxnet_shuttle_snapshot_20260920T102211.csv.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Representativeness, Koppen-Geiger climate classes: n = 750 of 781 towers classified, J (weighted Jaccard overlap with global land) = 0.399. Snapshot: fluxnet_shuttle_snapshot_20260901T094522.csv.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Representativeness, IGBP land cover classes: n = 781 of 781, J = 0.346. Snapshot: fluxnet_shuttle_snapshot_20260901T094522.csv.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Representativeness, CGIAR aridity index classes: n = 574 of 781, J = 0.675. Snapshot: fluxnet_shuttle_snapshot_20260901T094522.csv.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Representativeness, ESA CCI aboveground biomass bins: n = 781 of 781, J = 0.636. Snapshot: fluxnet_shuttle_snapshot_20260901T094522.csv.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Representativeness, TRENDY-ensemble NEE sink/source bins: n = 656 of 781, J = 0.165. Snapshot: fluxnet_shuttle_snapshot_20260901T094522.csv.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Representativeness, TRENDY-ensemble ET bins: n = 665 of 781, J = 0.479. Snapshot: fluxnet_shuttle_snapshot_20260901T094522.csv.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Relationship Id="rId3" Type="http://schemas.openxmlformats.org/officeDocument/2006/relationships/image" Target="../media/69c88ca894fb5e9d59da1595b1673ebbebfdd9b5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2.xml"/>
<Relationship Id="rId3" Type="http://schemas.openxmlformats.org/officeDocument/2006/relationships/image" Target="../media/ecdc9bcd8bac7f2884b47872a33438648eeba039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3.xml"/>
<Relationship Id="rId3" Type="http://schemas.openxmlformats.org/officeDocument/2006/relationships/image" Target="../media/2d105f1d6dc38b76692d9cbd1d73cb7f1f509b7c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4.xml"/>
<Relationship Id="rId3" Type="http://schemas.openxmlformats.org/officeDocument/2006/relationships/image" Target="../media/bb0026befdf04433cc9f9d6a109cbf2d33e9f9e0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5.xml"/>
<Relationship Id="rId3" Type="http://schemas.openxmlformats.org/officeDocument/2006/relationships/image" Target="../media/c4975a090eeb11e674a1426b5161a803f67b42ba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6.xml"/>
<Relationship Id="rId3" Type="http://schemas.openxmlformats.org/officeDocument/2006/relationships/image" Target="../media/dba7f5e68afd2751c63d69626d95805c205b635c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7.xml"/>
<Relationship Id="rId3" Type="http://schemas.openxmlformats.org/officeDocument/2006/relationships/image" Target="../media/f231e82b82add05a29fbcdae28d261ca1415c95c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8.xml"/>
<Relationship Id="rId3" Type="http://schemas.openxmlformats.org/officeDocument/2006/relationships/image" Target="../media/0be26d28fa606115446cb3f4ef937f8028700391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9.xml"/>
<Relationship Id="rId3" Type="http://schemas.openxmlformats.org/officeDocument/2006/relationships/image" Target="../media/60b931b686389320461ca9456bd5b731f1f1dd4d.pn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0.xml"/>
<Relationship Id="rId3" Type="http://schemas.openxmlformats.org/officeDocument/2006/relationships/image" Target="../media/f340220401ea5b796a01b7c29230434742fede57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1.xml"/>
<Relationship Id="rId3" Type="http://schemas.openxmlformats.org/officeDocument/2006/relationships/image" Target="../media/80cc55bc7a5db57a47513aec91052f27becc4d0a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2.xml"/>
<Relationship Id="rId3" Type="http://schemas.openxmlformats.org/officeDocument/2006/relationships/image" Target="../media/361efdb3adef36760310bcc1ee9b47fbf099cef2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3.xml"/>
<Relationship Id="rId3" Type="http://schemas.openxmlformats.org/officeDocument/2006/relationships/image" Target="../media/ef0090303d97c7030f16dec9b2dfefd1a0270b9d.pn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4.xml"/>
<Relationship Id="rId3" Type="http://schemas.openxmlformats.org/officeDocument/2006/relationships/image" Target="../media/2d4731aa42ee8ad86a213c3f9a70260a7b367989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5.xml"/>
<Relationship Id="rId3" Type="http://schemas.openxmlformats.org/officeDocument/2006/relationships/image" Target="../media/29be73b7c492f1ecf6f2b8816abbe7306f72426e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6.xml"/>
<Relationship Id="rId3" Type="http://schemas.openxmlformats.org/officeDocument/2006/relationships/image" Target="../media/0b2540558044ff9c45f397c36cfc16f67fa4cb2d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7.xml"/>
<Relationship Id="rId3" Type="http://schemas.openxmlformats.org/officeDocument/2006/relationships/image" Target="../media/79fb440ded53e7620f8e750cd564ed18311c5b39.png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8.xml"/>
<Relationship Id="rId3" Type="http://schemas.openxmlformats.org/officeDocument/2006/relationships/image" Target="../media/68dbee7d7787c7bf11ebd7f1551ed41a6cd12f81.png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9.xml"/>
<Relationship Id="rId3" Type="http://schemas.openxmlformats.org/officeDocument/2006/relationships/image" Target="../media/8f3543a5f4f468b9c24fbda9ca2c5f1a44ae9f75.png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20.xml"/>
<Relationship Id="rId3" Type="http://schemas.openxmlformats.org/officeDocument/2006/relationships/image" Target="../media/8c8478b634c35df5e491d2c091109bc50027e7c9.png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21.xml"/>
<Relationship Id="rId3" Type="http://schemas.openxmlformats.org/officeDocument/2006/relationships/image" Target="../media/bbb34fe6bfc8853f5741fd227361f8e9d7f63f11.png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22.xml"/>
<Relationship Id="rId3" Type="http://schemas.openxmlformats.org/officeDocument/2006/relationships/image" Target="../media/77dbb11b5a5d53794cad4e818825e08242b5b72c.png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23.xml"/>
<Relationship Id="rId3" Type="http://schemas.openxmlformats.org/officeDocument/2006/relationships/image" Target="../media/4ecfa536ab477605a923633fed248f10a73e841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243688" y="1097280"/>
            <a:ext cx="11704320" cy="57607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setanta</cp:lastModifiedBy>
  <cp:revision>3</cp:revision>
  <dcterms:created xsi:type="dcterms:W3CDTF">2017-02-13T16:18:36Z</dcterms:created>
  <dcterms:modified xsi:type="dcterms:W3CDTF">2026-10-13T15:50:35Z</dcterms:modified>
  <cp:category/>
</cp:coreProperties>
</file>